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9" r:id="rId1"/>
  </p:sldMasterIdLst>
  <p:sldIdLst>
    <p:sldId id="256" r:id="rId2"/>
    <p:sldId id="257" r:id="rId3"/>
    <p:sldId id="266" r:id="rId4"/>
    <p:sldId id="258" r:id="rId5"/>
    <p:sldId id="259" r:id="rId6"/>
    <p:sldId id="260" r:id="rId7"/>
    <p:sldId id="261" r:id="rId8"/>
    <p:sldId id="262" r:id="rId9"/>
    <p:sldId id="268" r:id="rId10"/>
    <p:sldId id="267" r:id="rId11"/>
    <p:sldId id="269" r:id="rId12"/>
    <p:sldId id="270" r:id="rId13"/>
    <p:sldId id="273" r:id="rId14"/>
    <p:sldId id="275" r:id="rId15"/>
    <p:sldId id="274" r:id="rId16"/>
    <p:sldId id="272" r:id="rId17"/>
    <p:sldId id="278" r:id="rId18"/>
    <p:sldId id="276" r:id="rId19"/>
    <p:sldId id="271" r:id="rId20"/>
    <p:sldId id="279" r:id="rId21"/>
    <p:sldId id="280" r:id="rId22"/>
    <p:sldId id="277" r:id="rId23"/>
    <p:sldId id="265" r:id="rId24"/>
    <p:sldId id="281" r:id="rId25"/>
    <p:sldId id="263" r:id="rId26"/>
    <p:sldId id="282"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0373923-06CA-4648-AC1A-CDD975CA4138}">
          <p14:sldIdLst>
            <p14:sldId id="256"/>
            <p14:sldId id="257"/>
            <p14:sldId id="266"/>
            <p14:sldId id="258"/>
            <p14:sldId id="259"/>
            <p14:sldId id="260"/>
            <p14:sldId id="261"/>
            <p14:sldId id="262"/>
            <p14:sldId id="268"/>
            <p14:sldId id="267"/>
            <p14:sldId id="269"/>
            <p14:sldId id="270"/>
            <p14:sldId id="273"/>
            <p14:sldId id="275"/>
            <p14:sldId id="274"/>
            <p14:sldId id="272"/>
            <p14:sldId id="278"/>
            <p14:sldId id="276"/>
            <p14:sldId id="271"/>
            <p14:sldId id="279"/>
            <p14:sldId id="280"/>
            <p14:sldId id="277"/>
            <p14:sldId id="265"/>
            <p14:sldId id="281"/>
            <p14:sldId id="263"/>
            <p14:sldId id="28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1080"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4187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599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8914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668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4028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9992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7102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2273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5176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036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1727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3999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62903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6782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23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2957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790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12/12/2025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5981495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Healthcare</a:t>
            </a:r>
            <a:r>
              <a:rPr lang="en-IN" dirty="0"/>
              <a:t> Insights Dashboard</a:t>
            </a:r>
            <a:endParaRPr dirty="0"/>
          </a:p>
        </p:txBody>
      </p:sp>
      <p:sp>
        <p:nvSpPr>
          <p:cNvPr id="3" name="Subtitle 2"/>
          <p:cNvSpPr>
            <a:spLocks noGrp="1"/>
          </p:cNvSpPr>
          <p:nvPr>
            <p:ph type="subTitle" idx="1"/>
          </p:nvPr>
        </p:nvSpPr>
        <p:spPr/>
        <p:txBody>
          <a:bodyPr/>
          <a:lstStyle/>
          <a:p>
            <a:r>
              <a:rPr lang="en-IN" dirty="0"/>
              <a:t>Done by : Sanju Sarvashni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lstStyle/>
          <a:p>
            <a:r>
              <a:rPr lang="en-US" dirty="0"/>
              <a:t>The goal of this project is to analyze a healthcare dataset to identify patterns in patient records, treatment usage, and health indicators. By performing data cleaning, SQL-based analysis, and visualization, the project aims to extract meaningful insights that can support better decision-making in healthcare management.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DF4E-F888-6A67-F4E7-E384CD8789A6}"/>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2B28A17E-72C4-C8D1-E673-6FBFDBE3298D}"/>
              </a:ext>
            </a:extLst>
          </p:cNvPr>
          <p:cNvSpPr>
            <a:spLocks noGrp="1"/>
          </p:cNvSpPr>
          <p:nvPr>
            <p:ph idx="1"/>
          </p:nvPr>
        </p:nvSpPr>
        <p:spPr/>
        <p:txBody>
          <a:bodyPr/>
          <a:lstStyle/>
          <a:p>
            <a:r>
              <a:rPr lang="en-US" dirty="0"/>
              <a:t>The primary objective is to extract meaningful insights from the healthcare dataset by performing data cleaning, SQL analysis, and EDA. Additionally, the project aims to build an interactive </a:t>
            </a:r>
            <a:r>
              <a:rPr lang="en-US" dirty="0" err="1"/>
              <a:t>Streamlit</a:t>
            </a:r>
            <a:r>
              <a:rPr lang="en-US" dirty="0"/>
              <a:t> dashboard that enables easy exploration of trends for decision-making.</a:t>
            </a:r>
            <a:endParaRPr lang="en-IN" dirty="0"/>
          </a:p>
        </p:txBody>
      </p:sp>
    </p:spTree>
    <p:extLst>
      <p:ext uri="{BB962C8B-B14F-4D97-AF65-F5344CB8AC3E}">
        <p14:creationId xmlns:p14="http://schemas.microsoft.com/office/powerpoint/2010/main" val="1804293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85228" y="656011"/>
            <a:ext cx="4973544" cy="903287"/>
          </a:xfrm>
        </p:spPr>
        <p:txBody>
          <a:bodyPr/>
          <a:lstStyle/>
          <a:p>
            <a:r>
              <a:rPr dirty="0"/>
              <a:t>Dataset Overview</a:t>
            </a:r>
          </a:p>
        </p:txBody>
      </p:sp>
      <p:sp>
        <p:nvSpPr>
          <p:cNvPr id="3" name="Content Placeholder 2"/>
          <p:cNvSpPr>
            <a:spLocks noGrp="1"/>
          </p:cNvSpPr>
          <p:nvPr>
            <p:ph sz="half" idx="4294967295"/>
          </p:nvPr>
        </p:nvSpPr>
        <p:spPr>
          <a:xfrm>
            <a:off x="779930" y="770966"/>
            <a:ext cx="7467599" cy="5431024"/>
          </a:xfrm>
        </p:spPr>
        <p:txBody>
          <a:bodyPr>
            <a:normAutofit fontScale="62500" lnSpcReduction="20000"/>
          </a:bodyPr>
          <a:lstStyle/>
          <a:p>
            <a:pPr marL="0" indent="0">
              <a:buNone/>
            </a:pPr>
            <a:br>
              <a:rPr lang="en-US" dirty="0"/>
            </a:br>
            <a:endParaRPr lang="en-US" dirty="0"/>
          </a:p>
          <a:p>
            <a:pPr marL="0" indent="0">
              <a:buNone/>
            </a:pPr>
            <a:r>
              <a:rPr lang="en-US" sz="7400" b="1" dirty="0"/>
              <a:t>• </a:t>
            </a:r>
            <a:r>
              <a:rPr lang="en-US" sz="4600" b="1" dirty="0"/>
              <a:t>Feature Summary</a:t>
            </a:r>
          </a:p>
          <a:p>
            <a:r>
              <a:rPr lang="en-US" b="1" dirty="0" err="1"/>
              <a:t>Patient_ID</a:t>
            </a:r>
            <a:r>
              <a:rPr lang="en-US" dirty="0"/>
              <a:t> — Unique patient identifier (int64)</a:t>
            </a:r>
          </a:p>
          <a:p>
            <a:r>
              <a:rPr lang="en-US" b="1" dirty="0" err="1"/>
              <a:t>Admit_Date</a:t>
            </a:r>
            <a:r>
              <a:rPr lang="en-US" dirty="0"/>
              <a:t> — Hospital admission date (object)</a:t>
            </a:r>
          </a:p>
          <a:p>
            <a:r>
              <a:rPr lang="en-US" b="1" dirty="0" err="1"/>
              <a:t>Discharge_Date</a:t>
            </a:r>
            <a:r>
              <a:rPr lang="en-US" dirty="0"/>
              <a:t> — Hospital discharge date (object)</a:t>
            </a:r>
          </a:p>
          <a:p>
            <a:r>
              <a:rPr lang="en-US" b="1" dirty="0"/>
              <a:t>Diagnosis</a:t>
            </a:r>
            <a:r>
              <a:rPr lang="en-US" dirty="0"/>
              <a:t> — Primary medical condition diagnosed (object)</a:t>
            </a:r>
          </a:p>
          <a:p>
            <a:r>
              <a:rPr lang="en-US" b="1" dirty="0" err="1"/>
              <a:t>Bed_Occupancy</a:t>
            </a:r>
            <a:r>
              <a:rPr lang="en-US" dirty="0"/>
              <a:t> — Bed type / allocation details (object)</a:t>
            </a:r>
          </a:p>
          <a:p>
            <a:r>
              <a:rPr lang="en-US" b="1" dirty="0"/>
              <a:t>Test</a:t>
            </a:r>
            <a:r>
              <a:rPr lang="en-US" dirty="0"/>
              <a:t> — Diagnostic tests recommended (object)</a:t>
            </a:r>
          </a:p>
          <a:p>
            <a:r>
              <a:rPr lang="en-US" b="1" dirty="0"/>
              <a:t>Doctor</a:t>
            </a:r>
            <a:r>
              <a:rPr lang="en-US" dirty="0"/>
              <a:t> — Consulted doctor’s name (object)</a:t>
            </a:r>
          </a:p>
          <a:p>
            <a:r>
              <a:rPr lang="en-US" b="1" dirty="0" err="1"/>
              <a:t>Followup</a:t>
            </a:r>
            <a:r>
              <a:rPr lang="en-US" b="1" dirty="0"/>
              <a:t> Date</a:t>
            </a:r>
            <a:r>
              <a:rPr lang="en-US" dirty="0"/>
              <a:t> — Scheduled follow-up date </a:t>
            </a:r>
            <a:r>
              <a:rPr lang="en-US" i="1" dirty="0"/>
              <a:t>(7035 non-null)</a:t>
            </a:r>
            <a:r>
              <a:rPr lang="en-US" dirty="0"/>
              <a:t> (object)</a:t>
            </a:r>
          </a:p>
          <a:p>
            <a:r>
              <a:rPr lang="en-US" b="1" dirty="0"/>
              <a:t>Feedback</a:t>
            </a:r>
            <a:r>
              <a:rPr lang="en-US" dirty="0"/>
              <a:t> — Patient satisfaction rating (float64)</a:t>
            </a:r>
          </a:p>
          <a:p>
            <a:r>
              <a:rPr lang="en-US" b="1" dirty="0"/>
              <a:t>Billing Amount</a:t>
            </a:r>
            <a:r>
              <a:rPr lang="en-US" dirty="0"/>
              <a:t> — Total bill amount charged (int64)</a:t>
            </a:r>
          </a:p>
          <a:p>
            <a:r>
              <a:rPr lang="en-US" b="1" dirty="0"/>
              <a:t>Health Insurance Amount</a:t>
            </a:r>
            <a:r>
              <a:rPr lang="en-US" dirty="0"/>
              <a:t> — Amount covered by insurance (int64)</a:t>
            </a:r>
          </a:p>
          <a:p>
            <a:r>
              <a:rPr lang="en-US" sz="3600" b="1" dirty="0"/>
              <a:t> </a:t>
            </a:r>
            <a:r>
              <a:rPr lang="en-US" b="1" dirty="0"/>
              <a:t>Total Records:</a:t>
            </a:r>
            <a:r>
              <a:rPr lang="en-US" dirty="0"/>
              <a:t> 7,157</a:t>
            </a:r>
            <a:endParaRPr lang="en-IN"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Tools &amp; Technologies Used</a:t>
            </a:r>
          </a:p>
        </p:txBody>
      </p:sp>
      <p:sp>
        <p:nvSpPr>
          <p:cNvPr id="3" name="Content Placeholder 2"/>
          <p:cNvSpPr>
            <a:spLocks noGrp="1"/>
          </p:cNvSpPr>
          <p:nvPr>
            <p:ph idx="1"/>
          </p:nvPr>
        </p:nvSpPr>
        <p:spPr>
          <a:xfrm>
            <a:off x="1111624" y="2490135"/>
            <a:ext cx="7216588" cy="3767230"/>
          </a:xfrm>
        </p:spPr>
        <p:txBody>
          <a:bodyPr>
            <a:normAutofit fontScale="62500" lnSpcReduction="20000"/>
          </a:bodyPr>
          <a:lstStyle/>
          <a:p>
            <a:pPr marL="0" indent="0">
              <a:buNone/>
            </a:pPr>
            <a:r>
              <a:rPr lang="en-IN" b="1" dirty="0"/>
              <a:t>Programming &amp; Data Processing</a:t>
            </a:r>
          </a:p>
          <a:p>
            <a:r>
              <a:rPr lang="en-IN" b="1" dirty="0"/>
              <a:t>Python</a:t>
            </a:r>
            <a:r>
              <a:rPr lang="en-IN" dirty="0"/>
              <a:t> – Data cleaning, preprocessing, analysis</a:t>
            </a:r>
          </a:p>
          <a:p>
            <a:r>
              <a:rPr lang="en-IN" b="1" dirty="0"/>
              <a:t>Pandas</a:t>
            </a:r>
            <a:r>
              <a:rPr lang="en-IN" dirty="0"/>
              <a:t> – Handling tabular data, transformations</a:t>
            </a:r>
          </a:p>
          <a:p>
            <a:pPr marL="0" indent="0">
              <a:buNone/>
            </a:pPr>
            <a:r>
              <a:rPr lang="en-IN" b="1" dirty="0"/>
              <a:t>Data Querying</a:t>
            </a:r>
          </a:p>
          <a:p>
            <a:r>
              <a:rPr lang="en-IN" b="1" dirty="0"/>
              <a:t>SQL</a:t>
            </a:r>
            <a:r>
              <a:rPr lang="en-IN" dirty="0"/>
              <a:t> – Extracting insights, aggregations, filtering operations</a:t>
            </a:r>
          </a:p>
          <a:p>
            <a:pPr marL="0" indent="0">
              <a:buNone/>
            </a:pPr>
            <a:r>
              <a:rPr lang="en-IN" b="1" dirty="0"/>
              <a:t>Visualization</a:t>
            </a:r>
          </a:p>
          <a:p>
            <a:r>
              <a:rPr lang="en-IN" b="1" dirty="0"/>
              <a:t>Matplotlib &amp; Seaborn</a:t>
            </a:r>
            <a:r>
              <a:rPr lang="en-IN" dirty="0"/>
              <a:t> – EDA visualizations</a:t>
            </a:r>
          </a:p>
          <a:p>
            <a:r>
              <a:rPr lang="en-IN" b="1" dirty="0" err="1"/>
              <a:t>Plotly</a:t>
            </a:r>
            <a:r>
              <a:rPr lang="en-IN" dirty="0"/>
              <a:t> – Interactive charts </a:t>
            </a:r>
          </a:p>
          <a:p>
            <a:pPr marL="0" indent="0">
              <a:buNone/>
            </a:pPr>
            <a:r>
              <a:rPr lang="en-IN" b="1" dirty="0"/>
              <a:t>Application Development</a:t>
            </a:r>
          </a:p>
          <a:p>
            <a:r>
              <a:rPr lang="en-IN" b="1" dirty="0" err="1"/>
              <a:t>Streamlit</a:t>
            </a:r>
            <a:r>
              <a:rPr lang="en-IN" dirty="0"/>
              <a:t> – Building the interactive healthcare dashboard</a:t>
            </a:r>
          </a:p>
          <a:p>
            <a:pPr marL="0" indent="0">
              <a:buNone/>
            </a:pPr>
            <a:r>
              <a:rPr lang="en-IN" b="1" dirty="0"/>
              <a:t>Version Control</a:t>
            </a:r>
          </a:p>
          <a:p>
            <a:r>
              <a:rPr lang="en-IN" b="1" dirty="0"/>
              <a:t>Git &amp; GitHub</a:t>
            </a:r>
            <a:r>
              <a:rPr lang="en-IN" dirty="0"/>
              <a:t> – Code management, documentation, project submission</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Cleaning &amp; Preprocessing</a:t>
            </a:r>
          </a:p>
        </p:txBody>
      </p:sp>
      <p:sp>
        <p:nvSpPr>
          <p:cNvPr id="3" name="Content Placeholder 2"/>
          <p:cNvSpPr>
            <a:spLocks noGrp="1"/>
          </p:cNvSpPr>
          <p:nvPr>
            <p:ph idx="1"/>
          </p:nvPr>
        </p:nvSpPr>
        <p:spPr/>
        <p:txBody>
          <a:bodyPr>
            <a:normAutofit/>
          </a:bodyPr>
          <a:lstStyle/>
          <a:p>
            <a:pPr marL="0" indent="0">
              <a:buNone/>
            </a:pPr>
            <a:r>
              <a:rPr lang="en-IN" b="1" dirty="0"/>
              <a:t>Key Steps</a:t>
            </a:r>
          </a:p>
          <a:p>
            <a:r>
              <a:rPr lang="en-IN" dirty="0"/>
              <a:t>Loaded the CSV file into a </a:t>
            </a:r>
            <a:r>
              <a:rPr lang="en-IN" dirty="0" err="1"/>
              <a:t>dataframe</a:t>
            </a:r>
            <a:r>
              <a:rPr lang="en-IN" dirty="0"/>
              <a:t> using pandas</a:t>
            </a:r>
          </a:p>
          <a:p>
            <a:r>
              <a:rPr lang="en-IN" dirty="0"/>
              <a:t>Handled missing values (</a:t>
            </a:r>
            <a:r>
              <a:rPr lang="en-IN" b="1" dirty="0" err="1"/>
              <a:t>Followup</a:t>
            </a:r>
            <a:r>
              <a:rPr lang="en-IN" b="1" dirty="0"/>
              <a:t> Date</a:t>
            </a:r>
            <a:r>
              <a:rPr lang="en-IN" dirty="0"/>
              <a:t>)</a:t>
            </a:r>
          </a:p>
          <a:p>
            <a:r>
              <a:rPr lang="en-IN" dirty="0"/>
              <a:t>Converted </a:t>
            </a:r>
            <a:r>
              <a:rPr lang="en-IN" b="1" dirty="0"/>
              <a:t>Admit, Discharge, </a:t>
            </a:r>
            <a:r>
              <a:rPr lang="en-IN" b="1" dirty="0" err="1"/>
              <a:t>Followup</a:t>
            </a:r>
            <a:r>
              <a:rPr lang="en-IN" b="1" dirty="0"/>
              <a:t> dates</a:t>
            </a:r>
            <a:r>
              <a:rPr lang="en-IN" dirty="0"/>
              <a:t> to datetime</a:t>
            </a:r>
          </a:p>
          <a:p>
            <a:r>
              <a:rPr lang="en-IN" dirty="0"/>
              <a:t>Derived </a:t>
            </a:r>
            <a:r>
              <a:rPr lang="en-IN" b="1" dirty="0"/>
              <a:t>Length of Stay</a:t>
            </a:r>
            <a:r>
              <a:rPr lang="en-IN" dirty="0"/>
              <a:t> for analysis</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SQL Queries &amp; Insights</a:t>
            </a:r>
          </a:p>
        </p:txBody>
      </p:sp>
      <p:sp>
        <p:nvSpPr>
          <p:cNvPr id="3" name="Content Placeholder 2"/>
          <p:cNvSpPr>
            <a:spLocks noGrp="1"/>
          </p:cNvSpPr>
          <p:nvPr>
            <p:ph idx="1"/>
          </p:nvPr>
        </p:nvSpPr>
        <p:spPr/>
        <p:txBody>
          <a:bodyPr/>
          <a:lstStyle/>
          <a:p>
            <a:pPr marL="0" indent="0">
              <a:buNone/>
            </a:pPr>
            <a:r>
              <a:rPr lang="en-US" dirty="0"/>
              <a:t>Loaded the healthcare dataset into SQL and performed queries to analyze patient admissions, diagnoses, bed occupancy, tests conducted, doctor-wise consultations, follow-ups, billing amounts, and insurance coverage to generate actionable operational and financial insights</a:t>
            </a:r>
            <a:r>
              <a:rPr lang="en-US" b="1" dirty="0"/>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EDA &amp; Visualizations</a:t>
            </a:r>
          </a:p>
        </p:txBody>
      </p:sp>
      <p:sp>
        <p:nvSpPr>
          <p:cNvPr id="5" name="Text Placeholder 4">
            <a:extLst>
              <a:ext uri="{FF2B5EF4-FFF2-40B4-BE49-F238E27FC236}">
                <a16:creationId xmlns:a16="http://schemas.microsoft.com/office/drawing/2014/main" id="{696B992D-E933-8AF3-91BE-3DDC396C5ABB}"/>
              </a:ext>
            </a:extLst>
          </p:cNvPr>
          <p:cNvSpPr>
            <a:spLocks noGrp="1"/>
          </p:cNvSpPr>
          <p:nvPr>
            <p:ph type="body" idx="1"/>
          </p:nvPr>
        </p:nvSpPr>
        <p:spPr/>
        <p:txBody>
          <a:bodyPr/>
          <a:lstStyle/>
          <a:p>
            <a:r>
              <a:rPr lang="en-IN" dirty="0"/>
              <a:t>Key Analyses &amp; Trends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E097B3-43C3-1ACE-058F-5210C61C4D18}"/>
              </a:ext>
            </a:extLst>
          </p:cNvPr>
          <p:cNvSpPr txBox="1"/>
          <p:nvPr/>
        </p:nvSpPr>
        <p:spPr>
          <a:xfrm rot="10800000" flipH="1" flipV="1">
            <a:off x="1388842" y="2792391"/>
            <a:ext cx="6948334" cy="707886"/>
          </a:xfrm>
          <a:prstGeom prst="rect">
            <a:avLst/>
          </a:prstGeom>
          <a:noFill/>
        </p:spPr>
        <p:txBody>
          <a:bodyPr wrap="square" rtlCol="0">
            <a:spAutoFit/>
          </a:bodyPr>
          <a:lstStyle/>
          <a:p>
            <a:r>
              <a:rPr lang="en-IN" sz="4000" b="1" dirty="0"/>
              <a:t>Patient and Admission Trends</a:t>
            </a:r>
          </a:p>
        </p:txBody>
      </p:sp>
    </p:spTree>
    <p:extLst>
      <p:ext uri="{BB962C8B-B14F-4D97-AF65-F5344CB8AC3E}">
        <p14:creationId xmlns:p14="http://schemas.microsoft.com/office/powerpoint/2010/main" val="1553352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blue bars">
            <a:extLst>
              <a:ext uri="{FF2B5EF4-FFF2-40B4-BE49-F238E27FC236}">
                <a16:creationId xmlns:a16="http://schemas.microsoft.com/office/drawing/2014/main" id="{AC80F541-087C-307B-13AB-57B5B5F6DFCE}"/>
              </a:ext>
            </a:extLst>
          </p:cNvPr>
          <p:cNvPicPr>
            <a:picLocks noChangeAspect="1"/>
          </p:cNvPicPr>
          <p:nvPr/>
        </p:nvPicPr>
        <p:blipFill>
          <a:blip r:embed="rId2"/>
          <a:stretch>
            <a:fillRect/>
          </a:stretch>
        </p:blipFill>
        <p:spPr>
          <a:xfrm>
            <a:off x="578176" y="564777"/>
            <a:ext cx="3931071" cy="3083858"/>
          </a:xfrm>
          <a:prstGeom prst="rect">
            <a:avLst/>
          </a:prstGeom>
        </p:spPr>
      </p:pic>
      <p:pic>
        <p:nvPicPr>
          <p:cNvPr id="9" name="Picture 8" descr="A graph of a line graph">
            <a:extLst>
              <a:ext uri="{FF2B5EF4-FFF2-40B4-BE49-F238E27FC236}">
                <a16:creationId xmlns:a16="http://schemas.microsoft.com/office/drawing/2014/main" id="{6496E517-8623-480E-1ED1-7EAEB6FDEC6C}"/>
              </a:ext>
            </a:extLst>
          </p:cNvPr>
          <p:cNvPicPr>
            <a:picLocks noChangeAspect="1"/>
          </p:cNvPicPr>
          <p:nvPr/>
        </p:nvPicPr>
        <p:blipFill>
          <a:blip r:embed="rId3"/>
          <a:stretch>
            <a:fillRect/>
          </a:stretch>
        </p:blipFill>
        <p:spPr>
          <a:xfrm>
            <a:off x="4509247" y="564778"/>
            <a:ext cx="3931070" cy="3083857"/>
          </a:xfrm>
          <a:prstGeom prst="rect">
            <a:avLst/>
          </a:prstGeom>
        </p:spPr>
      </p:pic>
      <p:pic>
        <p:nvPicPr>
          <p:cNvPr id="11" name="Picture 10" descr="A graph of different shades of blue">
            <a:extLst>
              <a:ext uri="{FF2B5EF4-FFF2-40B4-BE49-F238E27FC236}">
                <a16:creationId xmlns:a16="http://schemas.microsoft.com/office/drawing/2014/main" id="{5F771285-00CF-7D78-2C16-620B4A06FF8B}"/>
              </a:ext>
            </a:extLst>
          </p:cNvPr>
          <p:cNvPicPr>
            <a:picLocks noChangeAspect="1"/>
          </p:cNvPicPr>
          <p:nvPr/>
        </p:nvPicPr>
        <p:blipFill>
          <a:blip r:embed="rId4"/>
          <a:stretch>
            <a:fillRect/>
          </a:stretch>
        </p:blipFill>
        <p:spPr>
          <a:xfrm>
            <a:off x="551283" y="3648635"/>
            <a:ext cx="4020718" cy="2657763"/>
          </a:xfrm>
          <a:prstGeom prst="rect">
            <a:avLst/>
          </a:prstGeom>
        </p:spPr>
      </p:pic>
      <p:pic>
        <p:nvPicPr>
          <p:cNvPr id="13" name="Picture 12" descr="A graph with a line and a line">
            <a:extLst>
              <a:ext uri="{FF2B5EF4-FFF2-40B4-BE49-F238E27FC236}">
                <a16:creationId xmlns:a16="http://schemas.microsoft.com/office/drawing/2014/main" id="{FE227FBC-9A8E-28F1-19C0-15B3444FDFB4}"/>
              </a:ext>
            </a:extLst>
          </p:cNvPr>
          <p:cNvPicPr>
            <a:picLocks noChangeAspect="1"/>
          </p:cNvPicPr>
          <p:nvPr/>
        </p:nvPicPr>
        <p:blipFill>
          <a:blip r:embed="rId5"/>
          <a:stretch>
            <a:fillRect/>
          </a:stretch>
        </p:blipFill>
        <p:spPr>
          <a:xfrm>
            <a:off x="4598894" y="3648635"/>
            <a:ext cx="4066054" cy="2657763"/>
          </a:xfrm>
          <a:prstGeom prst="rect">
            <a:avLst/>
          </a:prstGeom>
        </p:spPr>
      </p:pic>
    </p:spTree>
    <p:extLst>
      <p:ext uri="{BB962C8B-B14F-4D97-AF65-F5344CB8AC3E}">
        <p14:creationId xmlns:p14="http://schemas.microsoft.com/office/powerpoint/2010/main" val="191380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7D7458-59B1-4608-B399-A1D8BDF060F9}"/>
              </a:ext>
            </a:extLst>
          </p:cNvPr>
          <p:cNvSpPr txBox="1"/>
          <p:nvPr/>
        </p:nvSpPr>
        <p:spPr>
          <a:xfrm>
            <a:off x="986118" y="762000"/>
            <a:ext cx="7279341" cy="584775"/>
          </a:xfrm>
          <a:prstGeom prst="rect">
            <a:avLst/>
          </a:prstGeom>
          <a:noFill/>
        </p:spPr>
        <p:txBody>
          <a:bodyPr wrap="square" rtlCol="0">
            <a:spAutoFit/>
          </a:bodyPr>
          <a:lstStyle/>
          <a:p>
            <a:pPr algn="ctr"/>
            <a:r>
              <a:rPr lang="en-IN" sz="3200" dirty="0"/>
              <a:t>Key Insights </a:t>
            </a:r>
          </a:p>
        </p:txBody>
      </p:sp>
      <p:sp>
        <p:nvSpPr>
          <p:cNvPr id="3" name="TextBox 2">
            <a:extLst>
              <a:ext uri="{FF2B5EF4-FFF2-40B4-BE49-F238E27FC236}">
                <a16:creationId xmlns:a16="http://schemas.microsoft.com/office/drawing/2014/main" id="{16260500-A211-61B1-B7CA-1AE771E253CB}"/>
              </a:ext>
            </a:extLst>
          </p:cNvPr>
          <p:cNvSpPr txBox="1"/>
          <p:nvPr/>
        </p:nvSpPr>
        <p:spPr>
          <a:xfrm>
            <a:off x="762000" y="1577788"/>
            <a:ext cx="7628965" cy="5355312"/>
          </a:xfrm>
          <a:prstGeom prst="rect">
            <a:avLst/>
          </a:prstGeom>
          <a:noFill/>
        </p:spPr>
        <p:txBody>
          <a:bodyPr wrap="square" rtlCol="0">
            <a:spAutoFit/>
          </a:bodyPr>
          <a:lstStyle/>
          <a:p>
            <a:pPr marL="285750" indent="-285750">
              <a:buFont typeface="Courier New" panose="02070309020205020404" pitchFamily="49" charset="0"/>
              <a:buChar char="o"/>
            </a:pPr>
            <a:r>
              <a:rPr lang="en-IN" dirty="0"/>
              <a:t>No of admissions were highest during the month of January to March and were mid during the other months.</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r>
              <a:rPr lang="en-US" dirty="0"/>
              <a:t>“Private beds dominate hospital admissions every month, with General and ICU beds showing lower but stable occupancy trends.”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IN" dirty="0"/>
              <a:t>Patients who were admitted to all three bed types stayed for around seven days each with the say in private room slightly longer , just about one day or more in average.</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r>
              <a:rPr lang="en-US" dirty="0"/>
              <a:t>The analysis of average billing against length of stay reveals no strictly linear trend, though a general pattern can be observed. Patients staying up to 5 days tend to incur higher average bills, possibly due to intensive treatments or surgical cases. Billing slightly drops for longer stays (10–25 days), indicating that extended hospitalization may involve more observation-based or recovery care with lower daily costs. The billing then stabilizes beyond 30 days, suggesting a consistent cost structure for chronic or long-term patients.</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endParaRPr lang="en-IN" dirty="0"/>
          </a:p>
        </p:txBody>
      </p:sp>
    </p:spTree>
    <p:extLst>
      <p:ext uri="{BB962C8B-B14F-4D97-AF65-F5344CB8AC3E}">
        <p14:creationId xmlns:p14="http://schemas.microsoft.com/office/powerpoint/2010/main" val="2902591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58CCB-04D4-3C5A-37CC-D50ED2BA69A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022E87-1321-5433-872D-CDE32BC45BB7}"/>
              </a:ext>
            </a:extLst>
          </p:cNvPr>
          <p:cNvSpPr txBox="1"/>
          <p:nvPr/>
        </p:nvSpPr>
        <p:spPr>
          <a:xfrm rot="10800000" flipH="1" flipV="1">
            <a:off x="1388842" y="2792392"/>
            <a:ext cx="6948334" cy="707886"/>
          </a:xfrm>
          <a:prstGeom prst="rect">
            <a:avLst/>
          </a:prstGeom>
          <a:noFill/>
        </p:spPr>
        <p:txBody>
          <a:bodyPr wrap="square" rtlCol="0">
            <a:spAutoFit/>
          </a:bodyPr>
          <a:lstStyle/>
          <a:p>
            <a:pPr algn="ctr"/>
            <a:r>
              <a:rPr lang="en-IN" sz="4000" b="1" dirty="0"/>
              <a:t>Financial Insights</a:t>
            </a:r>
          </a:p>
        </p:txBody>
      </p:sp>
    </p:spTree>
    <p:extLst>
      <p:ext uri="{BB962C8B-B14F-4D97-AF65-F5344CB8AC3E}">
        <p14:creationId xmlns:p14="http://schemas.microsoft.com/office/powerpoint/2010/main" val="379306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bar graph with white text">
            <a:extLst>
              <a:ext uri="{FF2B5EF4-FFF2-40B4-BE49-F238E27FC236}">
                <a16:creationId xmlns:a16="http://schemas.microsoft.com/office/drawing/2014/main" id="{D642035B-4858-F26B-C10E-2330B42CD8FB}"/>
              </a:ext>
            </a:extLst>
          </p:cNvPr>
          <p:cNvPicPr>
            <a:picLocks noChangeAspect="1"/>
          </p:cNvPicPr>
          <p:nvPr/>
        </p:nvPicPr>
        <p:blipFill>
          <a:blip r:embed="rId2"/>
          <a:stretch>
            <a:fillRect/>
          </a:stretch>
        </p:blipFill>
        <p:spPr>
          <a:xfrm>
            <a:off x="558893" y="562815"/>
            <a:ext cx="4013107" cy="2830951"/>
          </a:xfrm>
          <a:prstGeom prst="rect">
            <a:avLst/>
          </a:prstGeom>
        </p:spPr>
      </p:pic>
      <p:pic>
        <p:nvPicPr>
          <p:cNvPr id="5" name="Picture 4" descr="A graph of a number of blue rectangular objects">
            <a:extLst>
              <a:ext uri="{FF2B5EF4-FFF2-40B4-BE49-F238E27FC236}">
                <a16:creationId xmlns:a16="http://schemas.microsoft.com/office/drawing/2014/main" id="{26CA5D2E-ECF5-AFA7-7784-AD6F96E42ABA}"/>
              </a:ext>
            </a:extLst>
          </p:cNvPr>
          <p:cNvPicPr>
            <a:picLocks noChangeAspect="1"/>
          </p:cNvPicPr>
          <p:nvPr/>
        </p:nvPicPr>
        <p:blipFill>
          <a:blip r:embed="rId3"/>
          <a:stretch>
            <a:fillRect/>
          </a:stretch>
        </p:blipFill>
        <p:spPr>
          <a:xfrm>
            <a:off x="4572000" y="590335"/>
            <a:ext cx="4013107" cy="2803431"/>
          </a:xfrm>
          <a:prstGeom prst="rect">
            <a:avLst/>
          </a:prstGeom>
        </p:spPr>
      </p:pic>
      <p:pic>
        <p:nvPicPr>
          <p:cNvPr id="9" name="Picture 8" descr="A graph with a line">
            <a:extLst>
              <a:ext uri="{FF2B5EF4-FFF2-40B4-BE49-F238E27FC236}">
                <a16:creationId xmlns:a16="http://schemas.microsoft.com/office/drawing/2014/main" id="{66730CF0-0F26-DE63-4CAB-67B6D15EEADE}"/>
              </a:ext>
            </a:extLst>
          </p:cNvPr>
          <p:cNvPicPr>
            <a:picLocks noChangeAspect="1"/>
          </p:cNvPicPr>
          <p:nvPr/>
        </p:nvPicPr>
        <p:blipFill>
          <a:blip r:embed="rId4"/>
          <a:stretch>
            <a:fillRect/>
          </a:stretch>
        </p:blipFill>
        <p:spPr>
          <a:xfrm>
            <a:off x="558893" y="3393766"/>
            <a:ext cx="8026214" cy="2838665"/>
          </a:xfrm>
          <a:prstGeom prst="rect">
            <a:avLst/>
          </a:prstGeom>
        </p:spPr>
      </p:pic>
    </p:spTree>
    <p:extLst>
      <p:ext uri="{BB962C8B-B14F-4D97-AF65-F5344CB8AC3E}">
        <p14:creationId xmlns:p14="http://schemas.microsoft.com/office/powerpoint/2010/main" val="4009534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a disease">
            <a:extLst>
              <a:ext uri="{FF2B5EF4-FFF2-40B4-BE49-F238E27FC236}">
                <a16:creationId xmlns:a16="http://schemas.microsoft.com/office/drawing/2014/main" id="{6307443B-4BAE-4C87-66A8-9E36C81B5C3F}"/>
              </a:ext>
            </a:extLst>
          </p:cNvPr>
          <p:cNvPicPr>
            <a:picLocks noChangeAspect="1"/>
          </p:cNvPicPr>
          <p:nvPr/>
        </p:nvPicPr>
        <p:blipFill>
          <a:blip r:embed="rId2"/>
          <a:stretch>
            <a:fillRect/>
          </a:stretch>
        </p:blipFill>
        <p:spPr>
          <a:xfrm>
            <a:off x="1151964" y="1009843"/>
            <a:ext cx="6840071" cy="4838314"/>
          </a:xfrm>
          <a:prstGeom prst="rect">
            <a:avLst/>
          </a:prstGeom>
        </p:spPr>
      </p:pic>
    </p:spTree>
    <p:extLst>
      <p:ext uri="{BB962C8B-B14F-4D97-AF65-F5344CB8AC3E}">
        <p14:creationId xmlns:p14="http://schemas.microsoft.com/office/powerpoint/2010/main" val="3016551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6B3302-911F-2F19-8F3F-F596827A8DE9}"/>
              </a:ext>
            </a:extLst>
          </p:cNvPr>
          <p:cNvSpPr txBox="1"/>
          <p:nvPr/>
        </p:nvSpPr>
        <p:spPr>
          <a:xfrm>
            <a:off x="815788" y="1066800"/>
            <a:ext cx="7395883" cy="6001643"/>
          </a:xfrm>
          <a:prstGeom prst="rect">
            <a:avLst/>
          </a:prstGeom>
          <a:noFill/>
        </p:spPr>
        <p:txBody>
          <a:bodyPr wrap="square" rtlCol="0">
            <a:spAutoFit/>
          </a:bodyPr>
          <a:lstStyle/>
          <a:p>
            <a:pPr algn="ctr"/>
            <a:r>
              <a:rPr lang="en-IN" sz="2400" b="1" dirty="0"/>
              <a:t>Key Insights</a:t>
            </a:r>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r>
              <a:rPr lang="en-IN" dirty="0"/>
              <a:t>Average billing amount is almost same for every diagnosis.</a:t>
            </a:r>
          </a:p>
          <a:p>
            <a:endParaRPr lang="en-IN" dirty="0"/>
          </a:p>
          <a:p>
            <a:pPr marL="285750" indent="-285750">
              <a:buFont typeface="Courier New" panose="02070309020205020404" pitchFamily="49" charset="0"/>
              <a:buChar char="o"/>
            </a:pPr>
            <a:r>
              <a:rPr lang="en-US" dirty="0"/>
              <a:t>The majority of patient bills are covered through insurance, accounting for nearly 90% of total billing, while only a small fraction (~10%) is paid out-of-pocket. This indicates that most patients rely on insurance for healthcare expenses, reducing direct financial stress.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The hospital’s revenue shows noticeable fluctuations across months, with peak revenue observed in March 2023 (~₹1.6 crore) and lowest in March 2024 (~₹0.1 crore). Overall, the trend remains stable between ₹1.2–₹1.4 crore for most months after March 2023, suggesting consistent patient inflow and billing. </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Viral Infection and Flu are the top revenue contributors, reflecting their high patient count and frequent hospital visits. Pneumonia and Fracture contribute less to total revenue, possibly due to fewer cases or shorter inpatient stays.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endParaRPr lang="en-IN" dirty="0"/>
          </a:p>
          <a:p>
            <a:pPr marL="285750" indent="-285750">
              <a:buFont typeface="Courier New" panose="02070309020205020404" pitchFamily="49" charset="0"/>
              <a:buChar char="o"/>
            </a:pPr>
            <a:endParaRPr lang="en-IN" dirty="0"/>
          </a:p>
        </p:txBody>
      </p:sp>
    </p:spTree>
    <p:extLst>
      <p:ext uri="{BB962C8B-B14F-4D97-AF65-F5344CB8AC3E}">
        <p14:creationId xmlns:p14="http://schemas.microsoft.com/office/powerpoint/2010/main" val="454241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7291C-A6DD-C1F9-406F-1BA73C68D19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9C623CC-FA66-8501-D80A-758C31051BAD}"/>
              </a:ext>
            </a:extLst>
          </p:cNvPr>
          <p:cNvSpPr txBox="1"/>
          <p:nvPr/>
        </p:nvSpPr>
        <p:spPr>
          <a:xfrm rot="10800000" flipH="1" flipV="1">
            <a:off x="1388842" y="2823169"/>
            <a:ext cx="6948334" cy="646331"/>
          </a:xfrm>
          <a:prstGeom prst="rect">
            <a:avLst/>
          </a:prstGeom>
          <a:noFill/>
        </p:spPr>
        <p:txBody>
          <a:bodyPr wrap="square" rtlCol="0">
            <a:spAutoFit/>
          </a:bodyPr>
          <a:lstStyle/>
          <a:p>
            <a:r>
              <a:rPr lang="en-IN" sz="3600" b="1" dirty="0"/>
              <a:t>Doctor and Performance Insights</a:t>
            </a:r>
          </a:p>
        </p:txBody>
      </p:sp>
    </p:spTree>
    <p:extLst>
      <p:ext uri="{BB962C8B-B14F-4D97-AF65-F5344CB8AC3E}">
        <p14:creationId xmlns:p14="http://schemas.microsoft.com/office/powerpoint/2010/main" val="3755952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blue rectangular bars with white text">
            <a:extLst>
              <a:ext uri="{FF2B5EF4-FFF2-40B4-BE49-F238E27FC236}">
                <a16:creationId xmlns:a16="http://schemas.microsoft.com/office/drawing/2014/main" id="{B0B4C6A4-CC6F-347B-8784-89C17899C53F}"/>
              </a:ext>
            </a:extLst>
          </p:cNvPr>
          <p:cNvPicPr>
            <a:picLocks noChangeAspect="1"/>
          </p:cNvPicPr>
          <p:nvPr/>
        </p:nvPicPr>
        <p:blipFill>
          <a:blip r:embed="rId2"/>
          <a:stretch>
            <a:fillRect/>
          </a:stretch>
        </p:blipFill>
        <p:spPr>
          <a:xfrm>
            <a:off x="539842" y="542925"/>
            <a:ext cx="3866873" cy="3171338"/>
          </a:xfrm>
          <a:prstGeom prst="rect">
            <a:avLst/>
          </a:prstGeom>
        </p:spPr>
      </p:pic>
      <p:pic>
        <p:nvPicPr>
          <p:cNvPr id="5" name="Picture 4" descr="A graph of a number of doctors">
            <a:extLst>
              <a:ext uri="{FF2B5EF4-FFF2-40B4-BE49-F238E27FC236}">
                <a16:creationId xmlns:a16="http://schemas.microsoft.com/office/drawing/2014/main" id="{06C5E71D-36CE-5241-28A6-5C806916FAB0}"/>
              </a:ext>
            </a:extLst>
          </p:cNvPr>
          <p:cNvPicPr>
            <a:picLocks noChangeAspect="1"/>
          </p:cNvPicPr>
          <p:nvPr/>
        </p:nvPicPr>
        <p:blipFill>
          <a:blip r:embed="rId3"/>
          <a:stretch>
            <a:fillRect/>
          </a:stretch>
        </p:blipFill>
        <p:spPr>
          <a:xfrm>
            <a:off x="4406715" y="542925"/>
            <a:ext cx="4128777" cy="3171338"/>
          </a:xfrm>
          <a:prstGeom prst="rect">
            <a:avLst/>
          </a:prstGeom>
        </p:spPr>
      </p:pic>
      <p:pic>
        <p:nvPicPr>
          <p:cNvPr id="7" name="Picture 6" descr="A chart of different colors">
            <a:extLst>
              <a:ext uri="{FF2B5EF4-FFF2-40B4-BE49-F238E27FC236}">
                <a16:creationId xmlns:a16="http://schemas.microsoft.com/office/drawing/2014/main" id="{EC0AEBF5-6AA7-0BDA-E9DB-CADA7A7E9E43}"/>
              </a:ext>
            </a:extLst>
          </p:cNvPr>
          <p:cNvPicPr>
            <a:picLocks noChangeAspect="1"/>
          </p:cNvPicPr>
          <p:nvPr/>
        </p:nvPicPr>
        <p:blipFill>
          <a:blip r:embed="rId4"/>
          <a:stretch>
            <a:fillRect/>
          </a:stretch>
        </p:blipFill>
        <p:spPr>
          <a:xfrm>
            <a:off x="539842" y="3650545"/>
            <a:ext cx="7995650" cy="2664530"/>
          </a:xfrm>
          <a:prstGeom prst="rect">
            <a:avLst/>
          </a:prstGeom>
        </p:spPr>
      </p:pic>
    </p:spTree>
    <p:extLst>
      <p:ext uri="{BB962C8B-B14F-4D97-AF65-F5344CB8AC3E}">
        <p14:creationId xmlns:p14="http://schemas.microsoft.com/office/powerpoint/2010/main" val="123253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AB246-5042-C6EE-B4E0-DBD43EF6510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4B1DA80-39C1-0E94-12BB-64EA8BC2ED66}"/>
              </a:ext>
            </a:extLst>
          </p:cNvPr>
          <p:cNvSpPr txBox="1"/>
          <p:nvPr/>
        </p:nvSpPr>
        <p:spPr>
          <a:xfrm>
            <a:off x="815788" y="1066800"/>
            <a:ext cx="7395883" cy="4154984"/>
          </a:xfrm>
          <a:prstGeom prst="rect">
            <a:avLst/>
          </a:prstGeom>
          <a:noFill/>
        </p:spPr>
        <p:txBody>
          <a:bodyPr wrap="square" rtlCol="0">
            <a:spAutoFit/>
          </a:bodyPr>
          <a:lstStyle/>
          <a:p>
            <a:pPr algn="ctr"/>
            <a:r>
              <a:rPr lang="en-IN" sz="2400" b="1" dirty="0"/>
              <a:t>Key Insights</a:t>
            </a:r>
          </a:p>
          <a:p>
            <a:pPr algn="ctr"/>
            <a:endParaRPr lang="en-IN" sz="2400" b="1" dirty="0"/>
          </a:p>
          <a:p>
            <a:pPr marL="285750" indent="-285750">
              <a:buFont typeface="Courier New" panose="02070309020205020404" pitchFamily="49" charset="0"/>
              <a:buChar char="o"/>
            </a:pPr>
            <a:r>
              <a:rPr lang="en-US" dirty="0"/>
              <a:t>Almost every doctor had treated equal number of patients</a:t>
            </a:r>
          </a:p>
          <a:p>
            <a:endParaRPr lang="en-US" dirty="0"/>
          </a:p>
          <a:p>
            <a:pPr marL="285750" indent="-285750">
              <a:buFont typeface="Courier New" panose="02070309020205020404" pitchFamily="49" charset="0"/>
              <a:buChar char="o"/>
            </a:pPr>
            <a:r>
              <a:rPr lang="en-US" dirty="0"/>
              <a:t>Ravi D generated the highest revenue, followed closely by Mark Joy and Jaya Yaadav. The top five doctors show minimal revenue variation, indicating consistent high performance. Niki Sharma, though fifth, still achieved strong results, reflecting an overall competitive and productive team.</a:t>
            </a:r>
          </a:p>
          <a:p>
            <a:endParaRPr lang="en-US" dirty="0"/>
          </a:p>
          <a:p>
            <a:pPr marL="285750" indent="-285750">
              <a:buFont typeface="Courier New" panose="02070309020205020404" pitchFamily="49" charset="0"/>
              <a:buChar char="o"/>
            </a:pPr>
            <a:r>
              <a:rPr lang="en-US" dirty="0"/>
              <a:t>all the doctors are performing well equally, everyone of them having average feedback of ~ 4.2</a:t>
            </a:r>
          </a:p>
          <a:p>
            <a:endParaRPr lang="en-US" dirty="0"/>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endParaRPr lang="en-IN" b="1" dirty="0"/>
          </a:p>
        </p:txBody>
      </p:sp>
    </p:spTree>
    <p:extLst>
      <p:ext uri="{BB962C8B-B14F-4D97-AF65-F5344CB8AC3E}">
        <p14:creationId xmlns:p14="http://schemas.microsoft.com/office/powerpoint/2010/main" val="1515727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F7C4-CBC1-A1F2-0EBB-20C5404DBF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BD53AC2-4C85-DF74-4192-F2BFB61101E2}"/>
              </a:ext>
            </a:extLst>
          </p:cNvPr>
          <p:cNvSpPr txBox="1"/>
          <p:nvPr/>
        </p:nvSpPr>
        <p:spPr>
          <a:xfrm rot="10800000" flipH="1" flipV="1">
            <a:off x="1388842" y="2853947"/>
            <a:ext cx="6948334" cy="584775"/>
          </a:xfrm>
          <a:prstGeom prst="rect">
            <a:avLst/>
          </a:prstGeom>
          <a:noFill/>
        </p:spPr>
        <p:txBody>
          <a:bodyPr wrap="square" rtlCol="0">
            <a:spAutoFit/>
          </a:bodyPr>
          <a:lstStyle/>
          <a:p>
            <a:r>
              <a:rPr lang="en-IN" sz="3200" b="1" dirty="0"/>
              <a:t>Diagnostics and Feedback Insights</a:t>
            </a:r>
          </a:p>
        </p:txBody>
      </p:sp>
    </p:spTree>
    <p:extLst>
      <p:ext uri="{BB962C8B-B14F-4D97-AF65-F5344CB8AC3E}">
        <p14:creationId xmlns:p14="http://schemas.microsoft.com/office/powerpoint/2010/main" val="3971255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blue bars">
            <a:extLst>
              <a:ext uri="{FF2B5EF4-FFF2-40B4-BE49-F238E27FC236}">
                <a16:creationId xmlns:a16="http://schemas.microsoft.com/office/drawing/2014/main" id="{C262BB1F-EF0A-5965-A66D-C950A29418CD}"/>
              </a:ext>
            </a:extLst>
          </p:cNvPr>
          <p:cNvPicPr>
            <a:picLocks noChangeAspect="1"/>
          </p:cNvPicPr>
          <p:nvPr/>
        </p:nvPicPr>
        <p:blipFill>
          <a:blip r:embed="rId2"/>
          <a:stretch>
            <a:fillRect/>
          </a:stretch>
        </p:blipFill>
        <p:spPr>
          <a:xfrm>
            <a:off x="1045789" y="887506"/>
            <a:ext cx="7052422" cy="4667250"/>
          </a:xfrm>
          <a:prstGeom prst="rect">
            <a:avLst/>
          </a:prstGeom>
        </p:spPr>
      </p:pic>
    </p:spTree>
    <p:extLst>
      <p:ext uri="{BB962C8B-B14F-4D97-AF65-F5344CB8AC3E}">
        <p14:creationId xmlns:p14="http://schemas.microsoft.com/office/powerpoint/2010/main" val="653476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different colored rectangular shapes">
            <a:extLst>
              <a:ext uri="{FF2B5EF4-FFF2-40B4-BE49-F238E27FC236}">
                <a16:creationId xmlns:a16="http://schemas.microsoft.com/office/drawing/2014/main" id="{5FBB1505-BDE6-C5A8-DB64-5CFB9BC3C8F0}"/>
              </a:ext>
            </a:extLst>
          </p:cNvPr>
          <p:cNvPicPr>
            <a:picLocks noChangeAspect="1"/>
          </p:cNvPicPr>
          <p:nvPr/>
        </p:nvPicPr>
        <p:blipFill>
          <a:blip r:embed="rId2"/>
          <a:stretch>
            <a:fillRect/>
          </a:stretch>
        </p:blipFill>
        <p:spPr>
          <a:xfrm>
            <a:off x="1129133" y="1786991"/>
            <a:ext cx="6885734" cy="3284017"/>
          </a:xfrm>
          <a:prstGeom prst="rect">
            <a:avLst/>
          </a:prstGeom>
        </p:spPr>
      </p:pic>
    </p:spTree>
    <p:extLst>
      <p:ext uri="{BB962C8B-B14F-4D97-AF65-F5344CB8AC3E}">
        <p14:creationId xmlns:p14="http://schemas.microsoft.com/office/powerpoint/2010/main" val="3526356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F3DF4-690D-D5D7-35E7-AB0A19EA511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632A9CD-C025-DAEE-241B-B73C5EDBAF8A}"/>
              </a:ext>
            </a:extLst>
          </p:cNvPr>
          <p:cNvSpPr txBox="1"/>
          <p:nvPr/>
        </p:nvSpPr>
        <p:spPr>
          <a:xfrm>
            <a:off x="815788" y="1066800"/>
            <a:ext cx="7395883" cy="4708981"/>
          </a:xfrm>
          <a:prstGeom prst="rect">
            <a:avLst/>
          </a:prstGeom>
          <a:noFill/>
        </p:spPr>
        <p:txBody>
          <a:bodyPr wrap="square" rtlCol="0">
            <a:spAutoFit/>
          </a:bodyPr>
          <a:lstStyle/>
          <a:p>
            <a:pPr algn="ctr"/>
            <a:r>
              <a:rPr lang="en-IN" sz="2400" b="1" dirty="0"/>
              <a:t>Key Insights</a:t>
            </a:r>
          </a:p>
          <a:p>
            <a:pPr algn="ctr"/>
            <a:endParaRPr lang="en-IN" sz="2400" b="1" dirty="0"/>
          </a:p>
          <a:p>
            <a:pPr marL="285750" indent="-285750">
              <a:buFont typeface="Courier New" panose="02070309020205020404" pitchFamily="49" charset="0"/>
              <a:buChar char="o"/>
            </a:pPr>
            <a:r>
              <a:rPr lang="en-US" dirty="0"/>
              <a:t>Blood Tests are the most frequently performed diagnostic tests, accounting for the highest volume of all test types. MRI and CT Scans follow next, indicating higher reliance on advanced imaging for diagnosis. Ultrasound and X-Ray have similar frequencies, suggesting their consistent utility in routine </a:t>
            </a:r>
            <a:r>
              <a:rPr lang="en-US" dirty="0" err="1"/>
              <a:t>diagnostics.This</a:t>
            </a:r>
            <a:r>
              <a:rPr lang="en-US" dirty="0"/>
              <a:t> distribution highlights the importance of laboratory diagnostics in the hospital’s service portfolio — while advanced imaging contributes more per test in revenue, blood tests drive high patient throughput.</a:t>
            </a:r>
          </a:p>
          <a:p>
            <a:endParaRPr lang="en-US" dirty="0"/>
          </a:p>
          <a:p>
            <a:pPr marL="285750" indent="-285750">
              <a:buFont typeface="Courier New" panose="02070309020205020404" pitchFamily="49" charset="0"/>
              <a:buChar char="o"/>
            </a:pPr>
            <a:r>
              <a:rPr lang="en-US" dirty="0"/>
              <a:t>The average patient feedback across all diagnosis categories remains consistently high (~4.7/5), reflecting strong patient satisfaction.</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endParaRPr lang="en-IN" b="1" dirty="0"/>
          </a:p>
        </p:txBody>
      </p:sp>
    </p:spTree>
    <p:extLst>
      <p:ext uri="{BB962C8B-B14F-4D97-AF65-F5344CB8AC3E}">
        <p14:creationId xmlns:p14="http://schemas.microsoft.com/office/powerpoint/2010/main" val="2203096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Business Suggestion/solution</a:t>
            </a:r>
            <a:endParaRPr dirty="0"/>
          </a:p>
        </p:txBody>
      </p:sp>
      <p:sp>
        <p:nvSpPr>
          <p:cNvPr id="3" name="Content Placeholder 2"/>
          <p:cNvSpPr>
            <a:spLocks noGrp="1"/>
          </p:cNvSpPr>
          <p:nvPr>
            <p:ph idx="1"/>
          </p:nvPr>
        </p:nvSpPr>
        <p:spPr/>
        <p:txBody>
          <a:bodyPr/>
          <a:lstStyle/>
          <a:p>
            <a:r>
              <a:rPr lang="en-US" b="1" dirty="0"/>
              <a:t>Manage Seasonal Peaks:</a:t>
            </a:r>
            <a:r>
              <a:rPr lang="en-US" dirty="0"/>
              <a:t> Boost staff and bed availability during Jan–Mar to handle higher admissions efficiently.</a:t>
            </a:r>
          </a:p>
          <a:p>
            <a:r>
              <a:rPr lang="en-US" b="1" dirty="0"/>
              <a:t>Expand Private Bed Capacity:</a:t>
            </a:r>
            <a:r>
              <a:rPr lang="en-US" dirty="0"/>
              <a:t> Focus on private rooms to match demand and increase revenue.</a:t>
            </a:r>
          </a:p>
          <a:p>
            <a:r>
              <a:rPr lang="en-US" b="1" dirty="0"/>
              <a:t>Optimize Short-Stay Treatments:</a:t>
            </a:r>
            <a:r>
              <a:rPr lang="en-US" dirty="0"/>
              <a:t> Prioritize efficient care for ≤5-day stays to maximize revenue.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0E713-CBE9-A88D-7982-720FCAB87637}"/>
              </a:ext>
            </a:extLst>
          </p:cNvPr>
          <p:cNvSpPr>
            <a:spLocks noGrp="1"/>
          </p:cNvSpPr>
          <p:nvPr>
            <p:ph type="title"/>
          </p:nvPr>
        </p:nvSpPr>
        <p:spPr/>
        <p:txBody>
          <a:bodyPr/>
          <a:lstStyle/>
          <a:p>
            <a:r>
              <a:rPr lang="en-IN" dirty="0"/>
              <a:t>Business Suggestion/solution</a:t>
            </a:r>
          </a:p>
        </p:txBody>
      </p:sp>
      <p:sp>
        <p:nvSpPr>
          <p:cNvPr id="3" name="Content Placeholder 2">
            <a:extLst>
              <a:ext uri="{FF2B5EF4-FFF2-40B4-BE49-F238E27FC236}">
                <a16:creationId xmlns:a16="http://schemas.microsoft.com/office/drawing/2014/main" id="{8703F5CA-312F-CDF6-60EA-362B2F5DD511}"/>
              </a:ext>
            </a:extLst>
          </p:cNvPr>
          <p:cNvSpPr>
            <a:spLocks noGrp="1"/>
          </p:cNvSpPr>
          <p:nvPr>
            <p:ph idx="1"/>
          </p:nvPr>
        </p:nvSpPr>
        <p:spPr/>
        <p:txBody>
          <a:bodyPr/>
          <a:lstStyle/>
          <a:p>
            <a:r>
              <a:rPr lang="en-US" b="1" dirty="0"/>
              <a:t>Leverage Diagnostics &amp; Imaging:</a:t>
            </a:r>
            <a:r>
              <a:rPr lang="en-US" dirty="0"/>
              <a:t> Ensure lab efficiency for high-volume tests; promote MRI/CT for higher revenue.</a:t>
            </a:r>
          </a:p>
          <a:p>
            <a:r>
              <a:rPr lang="en-US" b="1" dirty="0"/>
              <a:t>Maintain High Patient Satisfaction:</a:t>
            </a:r>
            <a:r>
              <a:rPr lang="en-US" dirty="0"/>
              <a:t> Keep service quality consistent and use feedback to improve care.</a:t>
            </a:r>
            <a:endParaRPr lang="en-IN" dirty="0"/>
          </a:p>
        </p:txBody>
      </p:sp>
    </p:spTree>
    <p:extLst>
      <p:ext uri="{BB962C8B-B14F-4D97-AF65-F5344CB8AC3E}">
        <p14:creationId xmlns:p14="http://schemas.microsoft.com/office/powerpoint/2010/main" val="329873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Streamlit</a:t>
            </a:r>
            <a:r>
              <a:rPr dirty="0"/>
              <a:t> Application</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Overview</a:t>
            </a:r>
          </a:p>
          <a:p>
            <a:r>
              <a:rPr lang="en-US" dirty="0"/>
              <a:t>Interactive dashboard built using </a:t>
            </a:r>
            <a:r>
              <a:rPr lang="en-US" b="1" dirty="0" err="1"/>
              <a:t>Streamlit</a:t>
            </a:r>
            <a:endParaRPr lang="en-US" dirty="0"/>
          </a:p>
          <a:p>
            <a:r>
              <a:rPr lang="en-US" dirty="0"/>
              <a:t>Allows users to explore patient and hospital data dynamically</a:t>
            </a:r>
          </a:p>
          <a:p>
            <a:pPr marL="0" indent="0">
              <a:buNone/>
            </a:pPr>
            <a:r>
              <a:rPr lang="en-US" b="1" dirty="0"/>
              <a:t>Key Features</a:t>
            </a:r>
          </a:p>
          <a:p>
            <a:r>
              <a:rPr lang="en-US" b="1" dirty="0"/>
              <a:t>Filters:</a:t>
            </a:r>
            <a:r>
              <a:rPr lang="en-US" dirty="0"/>
              <a:t> By Admission Date, Bed Type, Doctor, and Diagnosis</a:t>
            </a:r>
          </a:p>
          <a:p>
            <a:r>
              <a:rPr lang="en-US" b="1" dirty="0"/>
              <a:t>KPIs:</a:t>
            </a:r>
            <a:r>
              <a:rPr lang="en-US" dirty="0"/>
              <a:t> Total admissions, average billing, insurance coverage</a:t>
            </a:r>
          </a:p>
          <a:p>
            <a:r>
              <a:rPr lang="en-US" b="1" dirty="0"/>
              <a:t>Charts:</a:t>
            </a:r>
            <a:r>
              <a:rPr lang="en-US" dirty="0"/>
              <a:t> Monthly admission trends, bed occupancy, diagnosis patterns, View detailed patient records and follow-up status</a:t>
            </a:r>
          </a:p>
          <a:p>
            <a:pPr marL="0" indent="0">
              <a:buNone/>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8DA1C5-AB2B-7DE7-71D7-DAC8014D021E}"/>
              </a:ext>
            </a:extLst>
          </p:cNvPr>
          <p:cNvSpPr txBox="1"/>
          <p:nvPr/>
        </p:nvSpPr>
        <p:spPr>
          <a:xfrm>
            <a:off x="1819835" y="2752165"/>
            <a:ext cx="5656730" cy="1015663"/>
          </a:xfrm>
          <a:prstGeom prst="rect">
            <a:avLst/>
          </a:prstGeom>
          <a:noFill/>
        </p:spPr>
        <p:txBody>
          <a:bodyPr wrap="square" rtlCol="0">
            <a:spAutoFit/>
          </a:bodyPr>
          <a:lstStyle/>
          <a:p>
            <a:pPr algn="ctr"/>
            <a:r>
              <a:rPr lang="en-IN" sz="6000" b="1" dirty="0"/>
              <a:t>THANK YOU !!</a:t>
            </a:r>
          </a:p>
        </p:txBody>
      </p:sp>
    </p:spTree>
    <p:extLst>
      <p:ext uri="{BB962C8B-B14F-4D97-AF65-F5344CB8AC3E}">
        <p14:creationId xmlns:p14="http://schemas.microsoft.com/office/powerpoint/2010/main" val="52866288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143</TotalTime>
  <Words>1058</Words>
  <Application>Microsoft Office PowerPoint</Application>
  <PresentationFormat>On-screen Show (4:3)</PresentationFormat>
  <Paragraphs>96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Courier New</vt:lpstr>
      <vt:lpstr>Garamond</vt:lpstr>
      <vt:lpstr>Organic</vt:lpstr>
      <vt:lpstr>Healthcare Insights Dashboard</vt:lpstr>
      <vt:lpstr>Problem Statement</vt:lpstr>
      <vt:lpstr>Objective</vt:lpstr>
      <vt:lpstr>Dataset Overview</vt:lpstr>
      <vt:lpstr>Tools &amp; Technologies Used</vt:lpstr>
      <vt:lpstr>Data Cleaning &amp; Preprocessing</vt:lpstr>
      <vt:lpstr>SQL Queries &amp; Insights</vt:lpstr>
      <vt:lpstr>EDA &amp; Visualizations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Suggestion/solution</vt:lpstr>
      <vt:lpstr>Business Suggestion/solution</vt:lpstr>
      <vt:lpstr>Streamlit Application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sanju sarvashni</cp:lastModifiedBy>
  <cp:revision>2</cp:revision>
  <dcterms:created xsi:type="dcterms:W3CDTF">2013-01-27T09:14:16Z</dcterms:created>
  <dcterms:modified xsi:type="dcterms:W3CDTF">2025-12-12T08:29:41Z</dcterms:modified>
  <cp:category/>
</cp:coreProperties>
</file>